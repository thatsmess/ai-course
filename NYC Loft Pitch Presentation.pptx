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005840"/>
            <a:ext cx="5120640" cy="35692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554480"/>
            <a:ext cx="6035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D166"/>
                </a:solidFill>
                <a:latin typeface="Calibri"/>
              </a:defRPr>
            </a:pPr>
            <a:r>
              <a:t>RESIDENTIAL CONCEPT PROPOSAL</a:t>
            </a:r>
          </a:p>
          <a:p>
            <a:pPr>
              <a:spcAft>
                <a:spcPts val="200"/>
              </a:spcAft>
              <a:defRPr sz="5400" b="1">
                <a:solidFill>
                  <a:srgbClr val="CFEEFF"/>
                </a:solidFill>
                <a:latin typeface="Calibri"/>
              </a:defRPr>
            </a:pPr>
            <a:r>
              <a:t>CONCRETE ASCENT</a:t>
            </a:r>
          </a:p>
          <a:p>
            <a:pPr>
              <a:spcAft>
                <a:spcPts val="1800"/>
              </a:spcAft>
              <a:defRPr sz="2200" b="0">
                <a:solidFill>
                  <a:srgbClr val="7FD8FF"/>
                </a:solidFill>
                <a:latin typeface="Calibri"/>
              </a:defRPr>
            </a:pPr>
            <a:r>
              <a:t>A Two-Storey Brutalist Loft in a New York Skyscraper</a:t>
            </a:r>
          </a:p>
          <a:p>
            <a:pPr>
              <a:spcAft>
                <a:spcPts val="400"/>
              </a:spcAft>
              <a:defRPr sz="1400" b="0">
                <a:solidFill>
                  <a:srgbClr val="9DBED6"/>
                </a:solidFill>
                <a:latin typeface="Calibri"/>
              </a:defRPr>
            </a:pPr>
            <a:r>
              <a:t>Board-formed concrete · double-height void · panoramic glazing</a:t>
            </a:r>
          </a:p>
          <a:p>
            <a:pPr>
              <a:spcAft>
                <a:spcPts val="0"/>
              </a:spcAft>
              <a:defRPr sz="1400" b="0">
                <a:solidFill>
                  <a:srgbClr val="9DBED6"/>
                </a:solidFill>
                <a:latin typeface="Calibri"/>
              </a:defRPr>
            </a:pPr>
            <a:r>
              <a:t>Levels 41–42 · Manhattan, New York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01 — DESIGN PHILOSOPHY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The Concept: Brutalism in the Sky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Honest concrete, monumental volume, and daylight — raw materiality elevated 41 floors above Manhattan.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Brutalist DNA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Cast-in-place, board-formed concrete left exposed on walls, ceilings and the staircase — texture, tie holes and all. Strength expressed, nothing hidden.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Vertical loft typology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A classic New York industrial loft rotated 90°: two stacked levels wrapped around a 5-metre double-height void.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Light as material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Floor-to-ceiling glazing, a roof skylight and an open void flood the concrete with moving daylight, softening its mass.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Sanctuary above the city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Public life below, private life above — the tower's height turns the apartment into a quiet concrete observatory.</a:t>
            </a:r>
          </a:p>
        </p:txBody>
      </p:sp>
      <p:pic>
        <p:nvPicPr>
          <p:cNvPr id="5" name="Picture 4" descr="ele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5394960" cy="34355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02 — SPATIAL PROGRAM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Two Floors, Two Moods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104 m² per level · 208 m² total · clear functional split between social and private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LEVEL 1 — Social &amp; Wellness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Entry foyer · gym · open kitchen with island · dining for six · TV lounge with generous sofas — all wrapped around the double-height void.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LEVEL 2 — Private &amp; Work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Master bedroom · walk-in shower suite · home office with skyline view · library landing overlooking the living space below.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The connective tissue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A sculptural cast-concrete stair; a glazed balustrade keeps the void visually open; service core (risers, HVAC) clad in raw concrete.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2148840"/>
            <a:ext cx="5257800" cy="114300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FFD166"/>
                </a:solidFill>
              </a:defRPr>
            </a:pPr>
            <a:r>
              <a:t>LEVEL 1</a:t>
            </a:r>
          </a:p>
          <a:p>
            <a:pPr>
              <a:defRPr sz="1300">
                <a:solidFill>
                  <a:srgbClr val="CFEEFF"/>
                </a:solidFill>
              </a:defRPr>
            </a:pPr>
            <a:r>
              <a:t>Entry · Gym · Kitchen · Dining · Living/TV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520440"/>
            <a:ext cx="5257800" cy="114300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FFD166"/>
                </a:solidFill>
              </a:defRPr>
            </a:pPr>
            <a:r>
              <a:t>LEVEL 2</a:t>
            </a:r>
          </a:p>
          <a:p>
            <a:pPr>
              <a:defRPr sz="1300">
                <a:solidFill>
                  <a:srgbClr val="CFEEFF"/>
                </a:solidFill>
              </a:defRPr>
            </a:pPr>
            <a:r>
              <a:t>Bedroom · Shower suite ·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892040"/>
            <a:ext cx="5257800" cy="114300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400" b="1">
                <a:solidFill>
                  <a:srgbClr val="FFD166"/>
                </a:solidFill>
              </a:defRPr>
            </a:pPr>
            <a:r>
              <a:t>VERTICAL</a:t>
            </a:r>
          </a:p>
          <a:p>
            <a:pPr>
              <a:defRPr sz="1300">
                <a:solidFill>
                  <a:srgbClr val="CFEEFF"/>
                </a:solidFill>
              </a:defRPr>
            </a:pPr>
            <a:r>
              <a:t>Concrete stair · double-height void · skylight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03 — BLUEPRINT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Level 1 · Social &amp; Wellness Floor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Kitchen, gym, dining and TV lounge — everything for daily living and entertaining, on one open plane</a:t>
            </a:r>
          </a:p>
        </p:txBody>
      </p:sp>
      <p:pic>
        <p:nvPicPr>
          <p:cNvPr id="4" name="Picture 3" descr="plan_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949440" cy="4761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9202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Open kitchen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Cast-in-place concrete island, induction hob, full-height pantry wall — cook while facing the skyline and the room.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Gym with mirror wall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Rack, cardio, free weights and fold-out mats; floor-to-ceiling mirrors amplify daylight and views.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TV lounge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Deep L-shaped sofas oriented to a board-formed concrete media wall; rug zone keeps acoustics soft.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Dining for six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Anchored between kitchen and glazing — morning light at breakfast, city glow at dinner.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Entry foyer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Concrete bench and console; pivot door; sightline straight through the void to the skyline.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04 — BLUEPRINT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Level 2 · Private &amp; Work Floor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Bedroom, shower suite and office upstairs — rest, wellness and focus above the city's noise</a:t>
            </a:r>
          </a:p>
        </p:txBody>
      </p:sp>
      <p:pic>
        <p:nvPicPr>
          <p:cNvPr id="4" name="Picture 3" descr="plan_leve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949440" cy="4761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9202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Master bedroom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2.0 × 2.2 m bed, full wardrobe wall; blackout rollers + sheer linen for total light control.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Walk-in shower suite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Rain head, concrete vanity, WC; heated concrete floor and a privacy glass panel.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Home office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Desk positioned at the corner glazing with a direct skyline view — shelving wall behind, void beside.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Library landing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The stair arrival doubles as a reading nook overlooking the living room below.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Glass balustrade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Frameless glazing along the void keeps the floor plate bright and visually connected.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05 — BLUEPRINT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Section A–A · How the Loft Stacks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4.40 m level-to-level · 5.0 m void · full-height glazing + roof skylight drive the daylight deep into the plan</a:t>
            </a:r>
          </a:p>
        </p:txBody>
      </p:sp>
      <p:pic>
        <p:nvPicPr>
          <p:cNvPr id="4" name="Picture 3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6949440" cy="484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8120" y="19202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Board-formed core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Structure and finish in one: concrete walls, slabs and stair carry the brutalist language through every surface.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Radiant heated floors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Warm concrete underfoot — silent, even heat with no visible radiators to clutter the architecture.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Acoustic plaster ceiling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Softens sound inside the hard shell; concrete mass blocks the city's drone from outside.</a:t>
            </a:r>
          </a:p>
          <a:p>
            <a:pPr>
              <a:spcAft>
                <a:spcPts val="100"/>
              </a:spcAft>
              <a:defRPr sz="1300" b="1">
                <a:solidFill>
                  <a:srgbClr val="7FD8FF"/>
                </a:solidFill>
              </a:defRPr>
            </a:pPr>
            <a:r>
              <a:t>▸ Skylight over void</a:t>
            </a:r>
          </a:p>
          <a:p>
            <a:pPr>
              <a:spcAft>
                <a:spcPts val="600"/>
              </a:spcAft>
              <a:defRPr sz="1200">
                <a:solidFill>
                  <a:srgbClr val="CFEEFF"/>
                </a:solidFill>
              </a:defRPr>
            </a:pPr>
            <a:r>
              <a:t>Sunlight drops two storeys into the living space, animating the concrete through the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06 — LIFESTYLE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The Conveniences of a Two-Storey Loft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Why stacking the program beats a single-level apartment — for living, working and resting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Natural zoning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Kitchen, gym, TV and sofas downstairs; bedroom, shower and office upstairs. No doors needed — the stair does the separating.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True rest upstairs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Bedroom is two floor slabs and a stair-run away from the TV, blender and treadmill — genuinely quiet sleep 41 floors up.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Separation of routines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One person can work late in the office while another watches a movie below — no headphone negotiations.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Guests without exposure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Entertain on level 1; the entire private floor stays untouched and clutter-free.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96596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The void as experience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The double-height space makes 208 m² feel like a townhouse in the sky — drama no flat plan can match.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Better daylight, twice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Two window levels mean morning light reaches the kitchen and evening light reaches the bedroom and desk.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Vertical exercise bonus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The concrete stair adds incidental daily movement between floors — a built-in wellness feature.</a:t>
            </a:r>
          </a:p>
          <a:p>
            <a:pPr>
              <a:spcAft>
                <a:spcPts val="100"/>
              </a:spcAft>
              <a:defRPr sz="1400" b="1">
                <a:solidFill>
                  <a:srgbClr val="7FD8FF"/>
                </a:solidFill>
              </a:defRPr>
            </a:pPr>
            <a:r>
              <a:t>▸ Higher value &amp; flexibility</a:t>
            </a:r>
          </a:p>
          <a:p>
            <a:pPr>
              <a:spcAft>
                <a:spcPts val="600"/>
              </a:spcAft>
              <a:defRPr sz="1300">
                <a:solidFill>
                  <a:srgbClr val="CFEEFF"/>
                </a:solidFill>
              </a:defRPr>
            </a:pPr>
            <a:r>
              <a:t>Stacked lofts are rarer and more desirable; the office converts easily to a nursery or guest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07 — MATERIAL PALETTE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Concrete First, Everything Else Honest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A restrained palette that keeps the architecture in charge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011680"/>
            <a:ext cx="5349240" cy="128016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FFD166"/>
                </a:solidFill>
              </a:defRPr>
            </a:pPr>
            <a:r>
              <a:t>Cast-in-place concrete</a:t>
            </a:r>
          </a:p>
          <a:p>
            <a:pPr>
              <a:defRPr sz="1200">
                <a:solidFill>
                  <a:srgbClr val="CFEEFF"/>
                </a:solidFill>
              </a:defRPr>
            </a:pPr>
            <a:r>
              <a:t>Board-formed walls, slabs &amp; stair — the structural finish IS the interior finish.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79" y="2011680"/>
            <a:ext cx="5349240" cy="128016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FFD166"/>
                </a:solidFill>
              </a:defRPr>
            </a:pPr>
            <a:r>
              <a:t>Glass</a:t>
            </a:r>
          </a:p>
          <a:p>
            <a:pPr>
              <a:defRPr sz="1200">
                <a:solidFill>
                  <a:srgbClr val="CFEEFF"/>
                </a:solidFill>
              </a:defRPr>
            </a:pPr>
            <a:r>
              <a:t>Floor-to-ceiling low-iron glazing; frameless balustrade; skylight.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93008"/>
            <a:ext cx="5349240" cy="128016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FFD166"/>
                </a:solidFill>
              </a:defRPr>
            </a:pPr>
            <a:r>
              <a:t>Raw blackened steel</a:t>
            </a:r>
          </a:p>
          <a:p>
            <a:pPr>
              <a:defRPr sz="1200">
                <a:solidFill>
                  <a:srgbClr val="CFEEFF"/>
                </a:solidFill>
              </a:defRPr>
            </a:pPr>
            <a:r>
              <a:t>Window frames, office desk structure, kitchen hood and shelving.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79" y="3493008"/>
            <a:ext cx="5349240" cy="128016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FFD166"/>
                </a:solidFill>
              </a:defRPr>
            </a:pPr>
            <a:r>
              <a:t>Charcoal wool &amp; linen</a:t>
            </a:r>
          </a:p>
          <a:p>
            <a:pPr>
              <a:defRPr sz="1200">
                <a:solidFill>
                  <a:srgbClr val="CFEEFF"/>
                </a:solidFill>
              </a:defRPr>
            </a:pPr>
            <a:r>
              <a:t>Sofas, bedding and curtains — texture against the hard shell.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974336"/>
            <a:ext cx="5349240" cy="128016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FFD166"/>
                </a:solidFill>
              </a:defRPr>
            </a:pPr>
            <a:r>
              <a:t>White oak accents</a:t>
            </a:r>
          </a:p>
          <a:p>
            <a:pPr>
              <a:defRPr sz="1200">
                <a:solidFill>
                  <a:srgbClr val="CFEEFF"/>
                </a:solidFill>
              </a:defRPr>
            </a:pPr>
            <a:r>
              <a:t>Kitchen stool seats, bedside details — warmth in measured doses.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79" y="4974336"/>
            <a:ext cx="5349240" cy="1280160"/>
          </a:xfrm>
          <a:prstGeom prst="rect">
            <a:avLst/>
          </a:prstGeom>
          <a:solidFill>
            <a:srgbClr val="12314F"/>
          </a:solidFill>
          <a:ln w="12700">
            <a:solidFill>
              <a:srgbClr val="7F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sz="1500" b="1">
                <a:solidFill>
                  <a:srgbClr val="FFD166"/>
                </a:solidFill>
              </a:defRPr>
            </a:pPr>
            <a:r>
              <a:t>Polished concrete floor</a:t>
            </a:r>
          </a:p>
          <a:p>
            <a:pPr>
              <a:defRPr sz="1200">
                <a:solidFill>
                  <a:srgbClr val="CFEEFF"/>
                </a:solidFill>
              </a:defRPr>
            </a:pPr>
            <a:r>
              <a:t>Radiant heated, sealed — continuous across level 1, timber-look finish upstairs.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08 — NATURAL LIGHT STRATEGY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Concrete That Never Feels Dark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Four coordinated moves pull daylight through both storeys from sunrise to sunset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7FD8FF"/>
                </a:solidFill>
              </a:defRPr>
            </a:pPr>
            <a:r>
              <a:t>▸ 1 · Full-height glazing</a:t>
            </a:r>
          </a:p>
          <a:p>
            <a:pPr>
              <a:spcAft>
                <a:spcPts val="1200"/>
              </a:spcAft>
              <a:defRPr sz="1400">
                <a:solidFill>
                  <a:srgbClr val="CFEEFF"/>
                </a:solidFill>
              </a:defRPr>
            </a:pPr>
            <a:r>
              <a:t>The south-west facade opens level 1 entirely to the skyline; low-iron glass maximises visible light transmission.</a:t>
            </a:r>
          </a:p>
          <a:p>
            <a:pPr>
              <a:spcAft>
                <a:spcPts val="100"/>
              </a:spcAft>
              <a:defRPr sz="1500" b="1">
                <a:solidFill>
                  <a:srgbClr val="7FD8FF"/>
                </a:solidFill>
              </a:defRPr>
            </a:pPr>
            <a:r>
              <a:t>▸ 2 · Double-height void</a:t>
            </a:r>
          </a:p>
          <a:p>
            <a:pPr>
              <a:spcAft>
                <a:spcPts val="1200"/>
              </a:spcAft>
              <a:defRPr sz="1400">
                <a:solidFill>
                  <a:srgbClr val="CFEEFF"/>
                </a:solidFill>
              </a:defRPr>
            </a:pPr>
            <a:r>
              <a:t>Acts as a light chimney — level 2 borrows daylight from the living room's big windows, keeping the stair and landing bright all day.</a:t>
            </a:r>
          </a:p>
          <a:p>
            <a:pPr>
              <a:spcAft>
                <a:spcPts val="100"/>
              </a:spcAft>
              <a:defRPr sz="1500" b="1">
                <a:solidFill>
                  <a:srgbClr val="7FD8FF"/>
                </a:solidFill>
              </a:defRPr>
            </a:pPr>
            <a:r>
              <a:t>▸ 3 · Roof skylight</a:t>
            </a:r>
          </a:p>
          <a:p>
            <a:pPr>
              <a:spcAft>
                <a:spcPts val="1200"/>
              </a:spcAft>
              <a:defRPr sz="1400">
                <a:solidFill>
                  <a:srgbClr val="CFEEFF"/>
                </a:solidFill>
              </a:defRPr>
            </a:pPr>
            <a:r>
              <a:t>A 2.6 m skylight over the void drops sun two storeys deep, sweeping across the concrete walls as the day progresses.</a:t>
            </a:r>
          </a:p>
          <a:p>
            <a:pPr>
              <a:spcAft>
                <a:spcPts val="100"/>
              </a:spcAft>
              <a:defRPr sz="1500" b="1">
                <a:solidFill>
                  <a:srgbClr val="7FD8FF"/>
                </a:solidFill>
              </a:defRPr>
            </a:pPr>
            <a:r>
              <a:t>▸ 4 · Open balustrade &amp; interior glazing</a:t>
            </a:r>
          </a:p>
          <a:p>
            <a:pPr>
              <a:spcAft>
                <a:spcPts val="1200"/>
              </a:spcAft>
              <a:defRPr sz="1400">
                <a:solidFill>
                  <a:srgbClr val="CFEEFF"/>
                </a:solidFill>
              </a:defRPr>
            </a:pPr>
            <a:r>
              <a:t>Frameless glass at the void edge and borrowed light between office and stair means no windowless rooms anywhere in the loft.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82296" cy="9601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D166"/>
                </a:solidFill>
                <a:latin typeface="Calibri"/>
              </a:defRPr>
            </a:pPr>
            <a:r>
              <a:t>09 — TECHNICAL SUMMARY</a:t>
            </a:r>
          </a:p>
          <a:p>
            <a:pPr>
              <a:spcAft>
                <a:spcPts val="200"/>
              </a:spcAft>
              <a:defRPr sz="3000" b="1">
                <a:solidFill>
                  <a:srgbClr val="CFEEFF"/>
                </a:solidFill>
                <a:latin typeface="Calibri"/>
              </a:defRPr>
            </a:pPr>
            <a:r>
              <a:t>Specification Sheet</a:t>
            </a:r>
          </a:p>
          <a:p>
            <a:pPr>
              <a:spcAft>
                <a:spcPts val="0"/>
              </a:spcAft>
              <a:defRPr sz="1300" b="0">
                <a:solidFill>
                  <a:srgbClr val="9DBED6"/>
                </a:solidFill>
                <a:latin typeface="Calibri"/>
              </a:defRPr>
            </a:pPr>
            <a:r>
              <a:t>Key figures and comfort systems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Gross internal area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208 m² (2 × 104 m²)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Ceiling heights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3.6 m typical · 5.0 m void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Level-to-level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4.40 m via concrete stair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Facade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Board-formed concrete + full-height glazing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Floor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Polished radiant concrete (L1) · oak-finish (L2)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20574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Heating / cooling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Hydronic radiant floors + concealed VRF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Ventilation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Ceiling-mounted ERV, continuous fresh air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Acoustics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Concrete mass + acoustic plaster ceilings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Smart systems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Lighting scenes, shading, keyless entry</a:t>
            </a:r>
          </a:p>
          <a:p>
            <a:pPr>
              <a:spcAft>
                <a:spcPts val="0"/>
              </a:spcAft>
              <a:defRPr sz="1500" b="1">
                <a:solidFill>
                  <a:srgbClr val="7FD8FF"/>
                </a:solidFill>
              </a:defRPr>
            </a:pPr>
            <a:r>
              <a:t>Energy target</a:t>
            </a:r>
          </a:p>
          <a:p>
            <a:pPr>
              <a:spcAft>
                <a:spcPts val="1400"/>
              </a:spcAft>
              <a:defRPr sz="1300">
                <a:solidFill>
                  <a:srgbClr val="CFEEFF"/>
                </a:solidFill>
              </a:defRPr>
            </a:pPr>
            <a:r>
              <a:t>NYC Energy Code compliant, high-performance glazing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e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28800"/>
            <a:ext cx="5760720" cy="36685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0312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D166"/>
                </a:solidFill>
                <a:latin typeface="Calibri"/>
              </a:defRPr>
            </a:pPr>
            <a:r>
              <a:t>IN SUMMARY</a:t>
            </a:r>
          </a:p>
          <a:p>
            <a:pPr>
              <a:spcAft>
                <a:spcPts val="1600"/>
              </a:spcAft>
              <a:defRPr sz="1600" b="0">
                <a:solidFill>
                  <a:srgbClr val="CFEEFF"/>
                </a:solidFill>
                <a:latin typeface="Calibri"/>
              </a:defRPr>
            </a:pPr>
            <a:r>
              <a:t>Concrete Ascent proves that brutalism can be warm, bright and deeply livable — a two-storey loft where the city energizes the social floor and disappears entirely on the private one.</a:t>
            </a:r>
          </a:p>
          <a:p>
            <a:pPr>
              <a:spcAft>
                <a:spcPts val="0"/>
              </a:spcAft>
              <a:defRPr sz="2000" b="1">
                <a:solidFill>
                  <a:srgbClr val="7FD8FF"/>
                </a:solidFill>
                <a:latin typeface="Calibri"/>
              </a:defRPr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9DBED6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9DBED6"/>
                </a:solidFill>
                <a:latin typeface="Calibri"/>
              </a:defRPr>
            </a:pPr>
            <a:r>
              <a:t>CONCRETE ASCENT — Brutalist Loft Tower, Manhattan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